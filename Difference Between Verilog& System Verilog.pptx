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23" r:id="rId7"/>
    <p:sldId id="324" r:id="rId8"/>
    <p:sldId id="325" r:id="rId9"/>
    <p:sldId id="326" r:id="rId10"/>
    <p:sldId id="282" r:id="rId11"/>
    <p:sldId id="327" r:id="rId12"/>
    <p:sldId id="328" r:id="rId13"/>
    <p:sldId id="329" r:id="rId14"/>
    <p:sldId id="330" r:id="rId15"/>
    <p:sldId id="331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BAFE15D-4BE1-BE39-7ABA-8EB5B20F4116}" name="akshat srivastava" initials="as" userId="dcd5574e35b5cd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29" autoAdjust="0"/>
  </p:normalViewPr>
  <p:slideViewPr>
    <p:cSldViewPr snapToGrid="0" snapToObjects="1">
      <p:cViewPr varScale="1">
        <p:scale>
          <a:sx n="102" d="100"/>
          <a:sy n="102" d="100"/>
        </p:scale>
        <p:origin x="894" y="1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allows engineers to describe digital circuits like counters, adders, multiplexers, etc., at the RTL level.</a:t>
            </a:r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doesn’t replace Verilog; it </a:t>
            </a:r>
            <a:r>
              <a:rPr lang="en-US" b="1" dirty="0"/>
              <a:t>adds more power</a:t>
            </a:r>
            <a:r>
              <a:rPr lang="en-US" dirty="0"/>
              <a:t> to it.</a:t>
            </a:r>
          </a:p>
        </p:txBody>
      </p:sp>
    </p:spTree>
    <p:extLst>
      <p:ext uri="{BB962C8B-B14F-4D97-AF65-F5344CB8AC3E}">
        <p14:creationId xmlns:p14="http://schemas.microsoft.com/office/powerpoint/2010/main" val="3366152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Data types decide </a:t>
            </a:r>
            <a:r>
              <a:rPr lang="en-US" b="1" dirty="0"/>
              <a:t>how we store information</a:t>
            </a:r>
            <a:r>
              <a:rPr lang="en-US" dirty="0"/>
              <a:t> in hardware code.</a:t>
            </a:r>
            <a:br>
              <a:rPr lang="en-US" dirty="0"/>
            </a:br>
            <a:r>
              <a:rPr lang="en-US" dirty="0"/>
              <a:t>Verilog’s types are old and limited.</a:t>
            </a:r>
          </a:p>
          <a:p>
            <a:r>
              <a:rPr lang="en-US" sz="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Inheritance</a:t>
            </a:r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like family traits: a new class (child) gets properties and abilities from an existing class (parent), promoting code reuse</a:t>
            </a:r>
          </a:p>
          <a:p>
            <a:r>
              <a:rPr lang="en-US" sz="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Polymorphism</a:t>
            </a:r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means "many forms": it allows objects from different classes (like Dog, Cat) to use the </a:t>
            </a:r>
            <a:r>
              <a:rPr lang="en-US" sz="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name (sound()) but each performs it differently (bark, meow), enabling flexible, unified handling.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48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Combinational circuits produce outputs based </a:t>
            </a:r>
            <a:r>
              <a:rPr lang="en-US" sz="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current inputs (no memory)</a:t>
            </a:r>
          </a:p>
          <a:p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sequential circuits use memory (like flip-flops) to factor in past states, synchronized by a clock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3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Verification takes </a:t>
            </a:r>
            <a:r>
              <a:rPr lang="en-US" b="1" dirty="0"/>
              <a:t>70% of total chip development time</a:t>
            </a:r>
            <a:r>
              <a:rPr lang="en-US" dirty="0"/>
              <a:t> — that is why </a:t>
            </a:r>
            <a:r>
              <a:rPr lang="en-US" dirty="0" err="1"/>
              <a:t>SystemVerilog</a:t>
            </a:r>
            <a:r>
              <a:rPr lang="en-US" dirty="0"/>
              <a:t> shines here</a:t>
            </a:r>
          </a:p>
          <a:p>
            <a:r>
              <a:rPr lang="en-US" b="1" dirty="0"/>
              <a:t>Assertions (SVA)</a:t>
            </a:r>
          </a:p>
          <a:p>
            <a:r>
              <a:rPr lang="en-US" dirty="0"/>
              <a:t>Automatically check if a condition is always true.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"If ready signal goes high, valid must go high within 1 cycle."</a:t>
            </a:r>
          </a:p>
          <a:p>
            <a:r>
              <a:rPr lang="en-US" b="1" dirty="0"/>
              <a:t>Randomization</a:t>
            </a:r>
          </a:p>
          <a:p>
            <a:r>
              <a:rPr lang="en-US" dirty="0"/>
              <a:t>Generates random test values → helps find corner-case bugs.</a:t>
            </a:r>
          </a:p>
          <a:p>
            <a:r>
              <a:rPr lang="en-US" b="1" dirty="0"/>
              <a:t>Constraints</a:t>
            </a:r>
          </a:p>
          <a:p>
            <a:r>
              <a:rPr lang="en-US" dirty="0"/>
              <a:t>Control the randomization:</a:t>
            </a:r>
            <a:br>
              <a:rPr lang="en-US" dirty="0"/>
            </a:br>
            <a:r>
              <a:rPr lang="en-US" dirty="0"/>
              <a:t>"Generate a value between 0 and 100."</a:t>
            </a:r>
          </a:p>
          <a:p>
            <a:r>
              <a:rPr lang="en-US" b="1" dirty="0"/>
              <a:t>OOP-Based Testbench</a:t>
            </a:r>
          </a:p>
          <a:p>
            <a:r>
              <a:rPr lang="en-US" dirty="0"/>
              <a:t>Testbenches become:</a:t>
            </a:r>
          </a:p>
          <a:p>
            <a:r>
              <a:rPr lang="en-US" dirty="0"/>
              <a:t>Modular</a:t>
            </a:r>
          </a:p>
          <a:p>
            <a:r>
              <a:rPr lang="en-US" dirty="0"/>
              <a:t>Reusable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Easier to debug</a:t>
            </a:r>
          </a:p>
          <a:p>
            <a:r>
              <a:rPr lang="en-US" b="1" dirty="0"/>
              <a:t>Functional Coverage</a:t>
            </a:r>
          </a:p>
          <a:p>
            <a:r>
              <a:rPr lang="en-US" dirty="0"/>
              <a:t>Measures how much of the design behavior has been tested.</a:t>
            </a:r>
            <a:br>
              <a:rPr lang="en-US" dirty="0"/>
            </a:br>
            <a:r>
              <a:rPr lang="en-US" dirty="0"/>
              <a:t>Ensures you don’t miss rare conditions.</a:t>
            </a:r>
          </a:p>
          <a:p>
            <a:r>
              <a:rPr lang="en-US" b="1" dirty="0"/>
              <a:t>Interfaces</a:t>
            </a:r>
          </a:p>
          <a:p>
            <a:r>
              <a:rPr lang="en-US" dirty="0"/>
              <a:t>Reduce wiring errors by grouping signals.</a:t>
            </a:r>
          </a:p>
          <a:p>
            <a:r>
              <a:rPr lang="en-US" b="1" dirty="0"/>
              <a:t>Mailboxes &amp; Semaphores</a:t>
            </a:r>
          </a:p>
          <a:p>
            <a:r>
              <a:rPr lang="en-US" dirty="0"/>
              <a:t>Used for synchronization inside testbenches.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44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Difference between</a:t>
            </a:r>
            <a:br>
              <a:rPr lang="en-US" dirty="0"/>
            </a:br>
            <a:r>
              <a:rPr lang="en-US" dirty="0"/>
              <a:t>Verilog &amp; system Verilog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Verilog</a:t>
            </a:r>
            <a:r>
              <a:rPr lang="en-US" dirty="0"/>
              <a:t> is a Hardware Description Language (HDL) used for RTL design and modeling digital circuits. </a:t>
            </a:r>
          </a:p>
          <a:p>
            <a:r>
              <a:rPr lang="en-US" dirty="0"/>
              <a:t>Developed by Gateway Design Automation, 1984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C0B7-0BB1-B252-6538-6E902650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</a:t>
            </a:r>
            <a:r>
              <a:rPr lang="en-US" dirty="0" err="1"/>
              <a:t>verilog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BE62-8A2A-959E-05D8-DD531AFFC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SystemVerilog</a:t>
            </a:r>
            <a:r>
              <a:rPr lang="en-US" dirty="0"/>
              <a:t> is a HDL and HVL and an extension of Verilog that adds powerful features for both </a:t>
            </a:r>
            <a:r>
              <a:rPr lang="en-US" b="1" dirty="0"/>
              <a:t>design</a:t>
            </a:r>
            <a:r>
              <a:rPr lang="en-US" dirty="0"/>
              <a:t> and </a:t>
            </a:r>
            <a:r>
              <a:rPr lang="en-US" b="1" dirty="0"/>
              <a:t>verification</a:t>
            </a:r>
            <a:r>
              <a:rPr lang="en-US" dirty="0"/>
              <a:t>.</a:t>
            </a:r>
          </a:p>
          <a:p>
            <a:r>
              <a:rPr lang="en-US" dirty="0"/>
              <a:t>Introduced in 2002.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9955C-19A1-9EAF-4C52-8FD12CF82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9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78D1-BD2E-8CF0-0E3D-6BF8373BF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8183"/>
            <a:ext cx="6583680" cy="1531357"/>
          </a:xfrm>
        </p:spPr>
        <p:txBody>
          <a:bodyPr/>
          <a:lstStyle/>
          <a:p>
            <a:r>
              <a:rPr lang="en-US" dirty="0"/>
              <a:t>Purpose of Each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01446-F26D-D82B-56B4-794C3B004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785" y="2403319"/>
            <a:ext cx="6583680" cy="3592039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Verilog</a:t>
            </a:r>
          </a:p>
          <a:p>
            <a:r>
              <a:rPr lang="en-US" dirty="0"/>
              <a:t>Focuses on describing hardware behavior and structure.</a:t>
            </a:r>
          </a:p>
          <a:p>
            <a:r>
              <a:rPr lang="en-US" dirty="0"/>
              <a:t>Suitable for RTL coding and simple testbenches.</a:t>
            </a:r>
          </a:p>
          <a:p>
            <a:endParaRPr lang="en-US" dirty="0"/>
          </a:p>
          <a:p>
            <a:r>
              <a:rPr lang="en-US" b="1" dirty="0" err="1">
                <a:solidFill>
                  <a:schemeClr val="tx1"/>
                </a:solidFill>
              </a:rPr>
              <a:t>SystemVerilog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Combines HDL + HVL (Hardware Verification Language).</a:t>
            </a:r>
          </a:p>
          <a:p>
            <a:r>
              <a:rPr lang="en-US" dirty="0"/>
              <a:t>Designed for complex SoC development.</a:t>
            </a:r>
          </a:p>
          <a:p>
            <a:r>
              <a:rPr lang="en-US" dirty="0"/>
              <a:t>Enhances both design clarity and verification capabilities.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452A-980D-0D4F-2BD6-F6C659611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8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CC58-7A90-3BF1-FCC7-A560C4FC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12241"/>
            <a:ext cx="6583680" cy="1531357"/>
          </a:xfrm>
        </p:spPr>
        <p:txBody>
          <a:bodyPr/>
          <a:lstStyle/>
          <a:p>
            <a:r>
              <a:rPr lang="en-US" dirty="0"/>
              <a:t>Data Type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271A-1F5A-324C-F562-FCD3B31E0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44791"/>
            <a:ext cx="6583680" cy="383012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Verilog</a:t>
            </a:r>
          </a:p>
          <a:p>
            <a:r>
              <a:rPr lang="en-US" dirty="0"/>
              <a:t>Limited types: reg, wire, integer, real.</a:t>
            </a:r>
          </a:p>
          <a:p>
            <a:r>
              <a:rPr lang="en-US" dirty="0"/>
              <a:t>No OOP.</a:t>
            </a:r>
          </a:p>
          <a:p>
            <a:r>
              <a:rPr lang="en-US" dirty="0"/>
              <a:t>Less strict regarding coding style.</a:t>
            </a:r>
          </a:p>
          <a:p>
            <a:endParaRPr lang="en-US" dirty="0"/>
          </a:p>
          <a:p>
            <a:r>
              <a:rPr lang="en-US" b="1" dirty="0" err="1">
                <a:solidFill>
                  <a:schemeClr val="tx1"/>
                </a:solidFill>
              </a:rPr>
              <a:t>SystemVerilog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New types: logic, bit, int, byte, </a:t>
            </a:r>
            <a:r>
              <a:rPr lang="en-US" dirty="0" err="1"/>
              <a:t>enum</a:t>
            </a:r>
            <a:r>
              <a:rPr lang="en-US" dirty="0"/>
              <a:t>, struct, union, string.</a:t>
            </a:r>
          </a:p>
          <a:p>
            <a:r>
              <a:rPr lang="en-US" dirty="0"/>
              <a:t>Supports dynamic arrays and associative arrays.</a:t>
            </a:r>
          </a:p>
          <a:p>
            <a:r>
              <a:rPr lang="en-US" dirty="0"/>
              <a:t>Strong typing reduces coding errors.</a:t>
            </a:r>
          </a:p>
          <a:p>
            <a:r>
              <a:rPr lang="en-US" dirty="0"/>
              <a:t>Adds OOP support (classes, inheritance, polymorphism).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7F22F-DD74-A92B-DA81-C8262AD31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1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B279-6526-6C66-BB4D-4D52603D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3009"/>
            <a:ext cx="6583680" cy="1531357"/>
          </a:xfrm>
        </p:spPr>
        <p:txBody>
          <a:bodyPr/>
          <a:lstStyle/>
          <a:p>
            <a:r>
              <a:rPr lang="en-US" dirty="0"/>
              <a:t>Design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A6B9-D996-75A8-0ABA-7A82EFB3B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30725"/>
            <a:ext cx="6583680" cy="3911259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Verilog</a:t>
            </a:r>
          </a:p>
          <a:p>
            <a:r>
              <a:rPr lang="en-US" sz="1800" dirty="0"/>
              <a:t>Uses basic always blocks for all processes.</a:t>
            </a:r>
          </a:p>
          <a:p>
            <a:r>
              <a:rPr lang="en-US" sz="1800" dirty="0"/>
              <a:t>Does not differentiate between sequential and combinational logic.</a:t>
            </a:r>
          </a:p>
          <a:p>
            <a:endParaRPr lang="en-US" sz="1800" dirty="0"/>
          </a:p>
          <a:p>
            <a:r>
              <a:rPr lang="en-US" sz="1800" b="1" dirty="0" err="1">
                <a:solidFill>
                  <a:schemeClr val="tx1"/>
                </a:solidFill>
              </a:rPr>
              <a:t>SystemVerilog</a:t>
            </a:r>
            <a:endParaRPr lang="en-US" sz="1800" b="1" dirty="0">
              <a:solidFill>
                <a:schemeClr val="tx1"/>
              </a:solidFill>
            </a:endParaRPr>
          </a:p>
          <a:p>
            <a:r>
              <a:rPr lang="en-US" sz="1800" dirty="0"/>
              <a:t>Introduces</a:t>
            </a:r>
          </a:p>
          <a:p>
            <a:pPr lvl="1"/>
            <a:r>
              <a:rPr lang="en-US" sz="1400" b="1" dirty="0" err="1"/>
              <a:t>always_ff</a:t>
            </a:r>
            <a:r>
              <a:rPr lang="en-US" sz="1400" dirty="0"/>
              <a:t> → Sequential logic</a:t>
            </a:r>
          </a:p>
          <a:p>
            <a:pPr lvl="1"/>
            <a:r>
              <a:rPr lang="en-US" sz="1400" b="1" dirty="0" err="1"/>
              <a:t>always_comb</a:t>
            </a:r>
            <a:r>
              <a:rPr lang="en-US" sz="1400" dirty="0"/>
              <a:t> → Combinational logic</a:t>
            </a:r>
          </a:p>
          <a:p>
            <a:pPr lvl="1"/>
            <a:r>
              <a:rPr lang="en-US" sz="1400" b="1" dirty="0" err="1"/>
              <a:t>always_latch</a:t>
            </a:r>
            <a:r>
              <a:rPr lang="en-US" sz="1400" dirty="0"/>
              <a:t> → Latch modeling</a:t>
            </a:r>
          </a:p>
          <a:p>
            <a:r>
              <a:rPr lang="en-US" sz="1800" dirty="0"/>
              <a:t>Supports interfaces for clean module connectivity.</a:t>
            </a:r>
          </a:p>
          <a:p>
            <a:r>
              <a:rPr lang="en-US" sz="1800" dirty="0"/>
              <a:t>Provides packed/unpacked arrays for structured design.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B2D0-0660-D975-421B-8D7987B74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431606"/>
            <a:ext cx="7965461" cy="994164"/>
          </a:xfrm>
        </p:spPr>
        <p:txBody>
          <a:bodyPr/>
          <a:lstStyle/>
          <a:p>
            <a:r>
              <a:rPr lang="en-US" dirty="0"/>
              <a:t>Examples through code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0293" y="1088892"/>
            <a:ext cx="2784960" cy="722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SystemVerilog</a:t>
            </a:r>
            <a:endParaRPr lang="en-US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8C970-B581-6AC8-C4CE-F76279173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130" y="1318555"/>
            <a:ext cx="4810125" cy="459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00F60-2949-B998-054E-D28A887A2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906" y="1585974"/>
            <a:ext cx="5459538" cy="36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50DF-662E-636C-C423-28ED5DE7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651" y="85214"/>
            <a:ext cx="7965461" cy="994164"/>
          </a:xfrm>
        </p:spPr>
        <p:txBody>
          <a:bodyPr/>
          <a:lstStyle/>
          <a:p>
            <a:r>
              <a:rPr lang="en-US" dirty="0"/>
              <a:t>Output waveform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8FFC-85E7-77A8-75B7-3B70D51BC2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968B-3DFB-7B8A-0EE9-8901843B5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33B8B-E5D4-1859-950A-8E25E36C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53" y="2303029"/>
            <a:ext cx="11426025" cy="175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8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20AE-B03E-E548-C390-89F2E467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916" y="-39883"/>
            <a:ext cx="7965461" cy="994164"/>
          </a:xfrm>
        </p:spPr>
        <p:txBody>
          <a:bodyPr/>
          <a:lstStyle/>
          <a:p>
            <a:r>
              <a:rPr lang="en-US" dirty="0"/>
              <a:t>Examples through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54DB-0890-1057-4D7B-93E91653F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6419" y="1302366"/>
            <a:ext cx="1370227" cy="379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Verilog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84144-C7D8-D52A-2F2C-72C0A7A4C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F04EA-1B7D-A312-CD62-2BCE7504F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44" y="1756106"/>
            <a:ext cx="5263035" cy="3345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2D841A-BEE4-DE78-F04B-DED51402E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69" y="1759251"/>
            <a:ext cx="53149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2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1EBC-F832-6360-D69E-E81DA3F1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772" y="0"/>
            <a:ext cx="7965461" cy="994164"/>
          </a:xfrm>
        </p:spPr>
        <p:txBody>
          <a:bodyPr/>
          <a:lstStyle/>
          <a:p>
            <a:r>
              <a:rPr lang="en-US" dirty="0"/>
              <a:t>Output waveform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ECFB1-6CB8-6222-343C-B5741EE040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794C8-9E37-0B99-8458-D98A077EE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4ED64-8159-4008-4479-2EDBCD84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3459"/>
            <a:ext cx="12192000" cy="18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6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6036-D711-5481-6820-53F73D8D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176" y="-90279"/>
            <a:ext cx="7965461" cy="994164"/>
          </a:xfrm>
        </p:spPr>
        <p:txBody>
          <a:bodyPr/>
          <a:lstStyle/>
          <a:p>
            <a:r>
              <a:rPr lang="en-US" dirty="0"/>
              <a:t>Verification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9E83-0E18-87FE-4E76-78CA20375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4792" y="1451363"/>
            <a:ext cx="8881233" cy="43493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Verification features are the special tools, techniques, and language constructs used to check whether a digital design works correctly before fabrication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 err="1"/>
              <a:t>SystemVerilog</a:t>
            </a:r>
            <a:r>
              <a:rPr lang="en-US" b="1" dirty="0"/>
              <a:t> provides advanced verification features that Verilog lacks: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chemeClr val="tx1"/>
                </a:solidFill>
              </a:rPr>
              <a:t>Assertions (SVA)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→ Check design behavior automatically.</a:t>
            </a:r>
          </a:p>
          <a:p>
            <a:r>
              <a:rPr lang="en-US" b="1" dirty="0">
                <a:solidFill>
                  <a:schemeClr val="tx1"/>
                </a:solidFill>
              </a:rPr>
              <a:t>Randomization</a:t>
            </a:r>
            <a:r>
              <a:rPr lang="en-US" dirty="0"/>
              <a:t> → Random test data generation.</a:t>
            </a:r>
          </a:p>
          <a:p>
            <a:r>
              <a:rPr lang="en-US" b="1" dirty="0">
                <a:solidFill>
                  <a:schemeClr val="tx1"/>
                </a:solidFill>
              </a:rPr>
              <a:t>Constraints</a:t>
            </a:r>
            <a:r>
              <a:rPr lang="en-US" dirty="0"/>
              <a:t> → Control valid ranges of random data.</a:t>
            </a:r>
          </a:p>
          <a:p>
            <a:r>
              <a:rPr lang="en-US" b="1" dirty="0">
                <a:solidFill>
                  <a:schemeClr val="tx1"/>
                </a:solidFill>
              </a:rPr>
              <a:t>OOP testbench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→ Supports classes, inheritance, polymorphism.</a:t>
            </a:r>
          </a:p>
          <a:p>
            <a:r>
              <a:rPr lang="en-US" b="1" dirty="0">
                <a:solidFill>
                  <a:schemeClr val="tx1"/>
                </a:solidFill>
              </a:rPr>
              <a:t>Functional coverage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→ Measures how much of the design is tested.</a:t>
            </a:r>
          </a:p>
          <a:p>
            <a:r>
              <a:rPr lang="en-US" b="1" dirty="0">
                <a:solidFill>
                  <a:schemeClr val="tx1"/>
                </a:solidFill>
              </a:rPr>
              <a:t>Interfaces</a:t>
            </a:r>
            <a:r>
              <a:rPr lang="en-US" dirty="0"/>
              <a:t> → Better connection management.</a:t>
            </a:r>
          </a:p>
          <a:p>
            <a:r>
              <a:rPr lang="en-US" b="1" dirty="0">
                <a:solidFill>
                  <a:schemeClr val="tx1"/>
                </a:solidFill>
              </a:rPr>
              <a:t>Mailboxes &amp; Semaphores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→ Synchronization in testbenches.</a:t>
            </a:r>
          </a:p>
          <a:p>
            <a:r>
              <a:rPr lang="en-US" dirty="0"/>
              <a:t>These make </a:t>
            </a:r>
            <a:r>
              <a:rPr lang="en-US" dirty="0" err="1"/>
              <a:t>SystemVerilog</a:t>
            </a:r>
            <a:r>
              <a:rPr lang="en-US" dirty="0"/>
              <a:t> the standard for </a:t>
            </a:r>
            <a:r>
              <a:rPr lang="en-US" b="1" dirty="0">
                <a:solidFill>
                  <a:schemeClr val="tx1"/>
                </a:solidFill>
              </a:rPr>
              <a:t>UVM-based verification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79C10-FCED-F7E5-88AF-F38354655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203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0EB8-4B57-D8E7-F57E-D683D49A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033" y="-228062"/>
            <a:ext cx="7965461" cy="994164"/>
          </a:xfrm>
        </p:spPr>
        <p:txBody>
          <a:bodyPr/>
          <a:lstStyle/>
          <a:p>
            <a:r>
              <a:rPr lang="en-US" dirty="0"/>
              <a:t>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4C75-6ABE-6337-CE38-DD6B8134B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6549" y="1680151"/>
            <a:ext cx="7965460" cy="3497698"/>
          </a:xfrm>
        </p:spPr>
        <p:txBody>
          <a:bodyPr/>
          <a:lstStyle/>
          <a:p>
            <a:r>
              <a:rPr lang="en-US" dirty="0"/>
              <a:t>Verilog is mainly for </a:t>
            </a:r>
            <a:r>
              <a:rPr lang="en-US" b="1" dirty="0"/>
              <a:t>hardware design</a:t>
            </a:r>
            <a:r>
              <a:rPr lang="en-US" dirty="0"/>
              <a:t>.</a:t>
            </a:r>
          </a:p>
          <a:p>
            <a:r>
              <a:rPr lang="en-US" dirty="0" err="1"/>
              <a:t>SystemVerilog</a:t>
            </a:r>
            <a:r>
              <a:rPr lang="en-US" dirty="0"/>
              <a:t> extends Verilog with </a:t>
            </a:r>
            <a:r>
              <a:rPr lang="en-US" b="1" dirty="0"/>
              <a:t>better design constructs</a:t>
            </a:r>
            <a:r>
              <a:rPr lang="en-US" dirty="0"/>
              <a:t> and </a:t>
            </a:r>
            <a:r>
              <a:rPr lang="en-US" b="1" dirty="0"/>
              <a:t>powerful verification features</a:t>
            </a:r>
            <a:r>
              <a:rPr lang="en-US" dirty="0"/>
              <a:t>.</a:t>
            </a:r>
          </a:p>
          <a:p>
            <a:r>
              <a:rPr lang="en-US" dirty="0" err="1"/>
              <a:t>SystemVerilog</a:t>
            </a:r>
            <a:r>
              <a:rPr lang="en-US" dirty="0"/>
              <a:t> is the </a:t>
            </a:r>
            <a:r>
              <a:rPr lang="en-US" b="1" dirty="0"/>
              <a:t>industry standard</a:t>
            </a:r>
            <a:r>
              <a:rPr lang="en-US" dirty="0"/>
              <a:t> for modern chip verification and UVM environments.</a:t>
            </a:r>
          </a:p>
          <a:p>
            <a:r>
              <a:rPr lang="en-US" dirty="0" err="1"/>
              <a:t>SystemVerilog</a:t>
            </a:r>
            <a:r>
              <a:rPr lang="en-US" dirty="0"/>
              <a:t> improves testbench quality, design clarity, and debugging efficiency.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38256-DFC8-971B-FB45-B44FA8F75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977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91F0D9-342B-44B9-A0F3-F6731568D569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{CE64B62C-0893-4887-A969-F9A98AAEB46F}TF8a9b5915-b8c7-461e-8cdd-693d48b5e32371f7b7e2_win32-4bf0b9a2ea37</Template>
  <TotalTime>1393</TotalTime>
  <Words>681</Words>
  <Application>Microsoft Office PowerPoint</Application>
  <PresentationFormat>Widescreen</PresentationFormat>
  <Paragraphs>101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Difference between Verilog &amp; system Verilog</vt:lpstr>
      <vt:lpstr>Verilog</vt:lpstr>
      <vt:lpstr>System verilog</vt:lpstr>
      <vt:lpstr>Purpose of Each Language</vt:lpstr>
      <vt:lpstr>Data Type Differences</vt:lpstr>
      <vt:lpstr>Design Features</vt:lpstr>
      <vt:lpstr>Examples through code </vt:lpstr>
      <vt:lpstr>Output waveform</vt:lpstr>
      <vt:lpstr>Examples through code</vt:lpstr>
      <vt:lpstr>Output waveform</vt:lpstr>
      <vt:lpstr>Verification Features</vt:lpstr>
      <vt:lpstr>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akshat srivastava</dc:creator>
  <cp:lastModifiedBy>akshat srivastava</cp:lastModifiedBy>
  <cp:revision>5</cp:revision>
  <dcterms:created xsi:type="dcterms:W3CDTF">2025-11-28T09:19:23Z</dcterms:created>
  <dcterms:modified xsi:type="dcterms:W3CDTF">2025-12-08T05:26:09Z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